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Quattrocento Sans" panose="020B0502050000020003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CB33D74-0A42-48F3-A4A2-0B0B96DCB14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63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0" y="635000"/>
            <a:ext cx="1524000" cy="1524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58420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1016000" cy="0"/>
          </a:xfrm>
          <a:prstGeom prst="straightConnector1">
            <a:avLst/>
          </a:prstGeom>
          <a:noFill/>
          <a:ln w="254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970000" y="7620000"/>
            <a:ext cx="1270000" cy="0"/>
          </a:xfrm>
          <a:prstGeom prst="straightConnector1">
            <a:avLst/>
          </a:prstGeom>
          <a:noFill/>
          <a:ln w="254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70800" y="2286000"/>
            <a:ext cx="914400" cy="812800"/>
          </a:xfrm>
          <a:custGeom>
            <a:avLst/>
            <a:gdLst/>
            <a:ahLst/>
            <a:cxnLst/>
            <a:rect l="l" t="t" r="r" b="b"/>
            <a:pathLst>
              <a:path w="914400" h="812800">
                <a:moveTo>
                  <a:pt x="590550" y="228441"/>
                </a:moveTo>
                <a:lnTo>
                  <a:pt x="274161" y="63818"/>
                </a:lnTo>
                <a:cubicBezTo>
                  <a:pt x="261461" y="57309"/>
                  <a:pt x="246698" y="56198"/>
                  <a:pt x="233362" y="61119"/>
                </a:cubicBezTo>
                <a:lnTo>
                  <a:pt x="168116" y="84931"/>
                </a:lnTo>
                <a:cubicBezTo>
                  <a:pt x="151765" y="90805"/>
                  <a:pt x="146209" y="110966"/>
                  <a:pt x="156845" y="124619"/>
                </a:cubicBezTo>
                <a:lnTo>
                  <a:pt x="317976" y="327660"/>
                </a:lnTo>
                <a:lnTo>
                  <a:pt x="158909" y="385445"/>
                </a:lnTo>
                <a:lnTo>
                  <a:pt x="63500" y="327343"/>
                </a:lnTo>
                <a:cubicBezTo>
                  <a:pt x="53657" y="321310"/>
                  <a:pt x="41593" y="320199"/>
                  <a:pt x="30639" y="324009"/>
                </a:cubicBezTo>
                <a:lnTo>
                  <a:pt x="4763" y="333534"/>
                </a:lnTo>
                <a:cubicBezTo>
                  <a:pt x="-10160" y="338931"/>
                  <a:pt x="-16510" y="356553"/>
                  <a:pt x="-8414" y="370205"/>
                </a:cubicBezTo>
                <a:lnTo>
                  <a:pt x="76676" y="515938"/>
                </a:lnTo>
                <a:cubicBezTo>
                  <a:pt x="101441" y="558324"/>
                  <a:pt x="153035" y="576897"/>
                  <a:pt x="199072" y="560070"/>
                </a:cubicBezTo>
                <a:lnTo>
                  <a:pt x="219551" y="552609"/>
                </a:lnTo>
                <a:lnTo>
                  <a:pt x="219551" y="552609"/>
                </a:lnTo>
                <a:lnTo>
                  <a:pt x="852011" y="322421"/>
                </a:lnTo>
                <a:cubicBezTo>
                  <a:pt x="898207" y="305594"/>
                  <a:pt x="921861" y="254635"/>
                  <a:pt x="905192" y="208439"/>
                </a:cubicBezTo>
                <a:cubicBezTo>
                  <a:pt x="888524" y="162242"/>
                  <a:pt x="837406" y="138589"/>
                  <a:pt x="791210" y="155258"/>
                </a:cubicBezTo>
                <a:lnTo>
                  <a:pt x="590550" y="228441"/>
                </a:lnTo>
                <a:close/>
                <a:moveTo>
                  <a:pt x="51118" y="711200"/>
                </a:moveTo>
                <a:cubicBezTo>
                  <a:pt x="23019" y="711200"/>
                  <a:pt x="318" y="733901"/>
                  <a:pt x="318" y="762000"/>
                </a:cubicBezTo>
                <a:cubicBezTo>
                  <a:pt x="318" y="790099"/>
                  <a:pt x="23019" y="812800"/>
                  <a:pt x="51118" y="812800"/>
                </a:cubicBezTo>
                <a:lnTo>
                  <a:pt x="863918" y="812800"/>
                </a:lnTo>
                <a:cubicBezTo>
                  <a:pt x="892016" y="812800"/>
                  <a:pt x="914718" y="790099"/>
                  <a:pt x="914718" y="762000"/>
                </a:cubicBezTo>
                <a:cubicBezTo>
                  <a:pt x="914718" y="733901"/>
                  <a:pt x="892016" y="711200"/>
                  <a:pt x="863918" y="711200"/>
                </a:cubicBezTo>
                <a:lnTo>
                  <a:pt x="51118" y="711200"/>
                </a:ln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3429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AIRPORT MANAGEMENT SYSTEM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0" y="4381500"/>
            <a:ext cx="2540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048000" y="4699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DSA Project in C++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8000" y="533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 Scheduling &amp; Operations using Data Structures &amp; Algorithms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5A7A9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8509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 | C++ Implementation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6DDBB-CB31-FABA-03EE-A039C6D40110}"/>
              </a:ext>
            </a:extLst>
          </p:cNvPr>
          <p:cNvSpPr txBox="1"/>
          <p:nvPr/>
        </p:nvSpPr>
        <p:spPr>
          <a:xfrm>
            <a:off x="5212080" y="7242048"/>
            <a:ext cx="5541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Quattrocento Sans" panose="020B0502050000020003" pitchFamily="34" charset="0"/>
              </a:rPr>
              <a:t>Members: Ayesha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ptos Display" panose="020B0004020202020204" pitchFamily="34" charset="0"/>
              </a:rPr>
              <a:t>Kashif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Quattrocento Sans" panose="020B0502050000020003" pitchFamily="34" charset="0"/>
              </a:rPr>
              <a:t> 70175728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Quattrocento Sans" panose="020B0502050000020003" pitchFamily="34" charset="0"/>
              </a:rPr>
              <a:t>                   Fidia Batool 70174381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kern="0" spc="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302000"/>
            <a:ext cx="1016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556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of the presentation structure and key topics covered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0" y="1016000"/>
            <a:ext cx="5080000" cy="3302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80000" y="1016000"/>
            <a:ext cx="50800" cy="3302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8" name="Text 6"/>
          <p:cNvSpPr/>
          <p:nvPr/>
        </p:nvSpPr>
        <p:spPr>
          <a:xfrm>
            <a:off x="5461000" y="139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61000" y="2159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61000" y="2667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overview, problem statement, objectives and scope of the airport management 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0" y="1016000"/>
            <a:ext cx="5080000" cy="3302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0" y="1016000"/>
            <a:ext cx="50800" cy="3302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0" y="139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0" y="2159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667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DSA concepts: arrays, linked lists, trees, graphs, hash tables, sorting and searching algorithms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0" y="4826000"/>
            <a:ext cx="5080000" cy="3302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0000" y="4826000"/>
            <a:ext cx="50800" cy="3302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61000" y="520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1000" y="5969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61000" y="6477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architecture, module breakdown, key features and operational workflows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4826000"/>
            <a:ext cx="5080000" cy="3302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68000" y="4826000"/>
            <a:ext cx="50800" cy="3302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520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5969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6477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highlights, time-space complexity analysis, results achieved and future enhancements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556000"/>
            <a:ext cx="1016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810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699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statement, project objectives, and scope of the airport management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02750" y="3556000"/>
            <a:ext cx="1714500" cy="1524000"/>
          </a:xfrm>
          <a:custGeom>
            <a:avLst/>
            <a:gdLst/>
            <a:ahLst/>
            <a:cxnLst/>
            <a:rect l="l" t="t" r="r" b="b"/>
            <a:pathLst>
              <a:path w="1714500" h="1524000">
                <a:moveTo>
                  <a:pt x="1547813" y="595313"/>
                </a:moveTo>
                <a:cubicBezTo>
                  <a:pt x="1639788" y="595313"/>
                  <a:pt x="1714500" y="670024"/>
                  <a:pt x="1714500" y="762000"/>
                </a:cubicBezTo>
                <a:cubicBezTo>
                  <a:pt x="1714500" y="853976"/>
                  <a:pt x="1639788" y="928688"/>
                  <a:pt x="1547813" y="928688"/>
                </a:cubicBezTo>
                <a:lnTo>
                  <a:pt x="1168896" y="928688"/>
                </a:lnTo>
                <a:lnTo>
                  <a:pt x="695027" y="1445419"/>
                </a:lnTo>
                <a:cubicBezTo>
                  <a:pt x="676870" y="1465064"/>
                  <a:pt x="651570" y="1476375"/>
                  <a:pt x="624780" y="1476375"/>
                </a:cubicBezTo>
                <a:lnTo>
                  <a:pt x="494705" y="1476375"/>
                </a:lnTo>
                <a:cubicBezTo>
                  <a:pt x="462260" y="1476375"/>
                  <a:pt x="439341" y="1444526"/>
                  <a:pt x="449461" y="1413570"/>
                </a:cubicBezTo>
                <a:lnTo>
                  <a:pt x="611088" y="928688"/>
                </a:lnTo>
                <a:lnTo>
                  <a:pt x="314325" y="928688"/>
                </a:lnTo>
                <a:lnTo>
                  <a:pt x="157163" y="1125141"/>
                </a:lnTo>
                <a:cubicBezTo>
                  <a:pt x="148233" y="1136452"/>
                  <a:pt x="134541" y="1143000"/>
                  <a:pt x="119955" y="1143000"/>
                </a:cubicBezTo>
                <a:lnTo>
                  <a:pt x="61020" y="1143000"/>
                </a:lnTo>
                <a:cubicBezTo>
                  <a:pt x="30063" y="1143000"/>
                  <a:pt x="7441" y="1113830"/>
                  <a:pt x="14883" y="1083766"/>
                </a:cubicBezTo>
                <a:lnTo>
                  <a:pt x="95250" y="762000"/>
                </a:lnTo>
                <a:lnTo>
                  <a:pt x="14883" y="440234"/>
                </a:lnTo>
                <a:cubicBezTo>
                  <a:pt x="7144" y="410170"/>
                  <a:pt x="30063" y="381000"/>
                  <a:pt x="61020" y="381000"/>
                </a:cubicBezTo>
                <a:lnTo>
                  <a:pt x="119955" y="381000"/>
                </a:lnTo>
                <a:cubicBezTo>
                  <a:pt x="134541" y="381000"/>
                  <a:pt x="148233" y="387548"/>
                  <a:pt x="157163" y="398859"/>
                </a:cubicBezTo>
                <a:lnTo>
                  <a:pt x="314325" y="595313"/>
                </a:lnTo>
                <a:lnTo>
                  <a:pt x="611088" y="595313"/>
                </a:lnTo>
                <a:lnTo>
                  <a:pt x="449461" y="110430"/>
                </a:lnTo>
                <a:cubicBezTo>
                  <a:pt x="439341" y="79474"/>
                  <a:pt x="462260" y="47625"/>
                  <a:pt x="494705" y="47625"/>
                </a:cubicBezTo>
                <a:lnTo>
                  <a:pt x="624780" y="47625"/>
                </a:lnTo>
                <a:cubicBezTo>
                  <a:pt x="651570" y="47625"/>
                  <a:pt x="676870" y="58936"/>
                  <a:pt x="695027" y="78581"/>
                </a:cubicBezTo>
                <a:lnTo>
                  <a:pt x="1168896" y="595313"/>
                </a:lnTo>
                <a:lnTo>
                  <a:pt x="1547813" y="595313"/>
                </a:lnTo>
                <a:close/>
              </a:path>
            </a:pathLst>
          </a:custGeom>
          <a:solidFill>
            <a:srgbClr val="1B3A5C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5588000"/>
            <a:ext cx="5080000" cy="0"/>
          </a:xfrm>
          <a:prstGeom prst="straightConnector1">
            <a:avLst/>
          </a:prstGeom>
          <a:noFill/>
          <a:ln w="12700">
            <a:solidFill>
              <a:srgbClr val="D0D8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15240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800" b="1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Airport Management System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C++ console application managing flight operations: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D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Flight scheduling — add, search, sort, cancel flights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47D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Passenger bookings with real-time seat allocation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47D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Runway queue management for takeoffs and landings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47D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Shortest route finder between connected airports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Built using core DSA with </a:t>
            </a:r>
            <a:r>
              <a:rPr lang="en-US" sz="1800" b="1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external databases</a:t>
            </a:r>
            <a:r>
              <a:rPr lang="en-US" sz="1800" dirty="0">
                <a:solidFill>
                  <a:srgbClr val="1A1D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all data in custom in-memory structures.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524000"/>
            <a:ext cx="7112000" cy="4318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63000" y="177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Capabilities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63000" y="2286000"/>
            <a:ext cx="635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7+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Structures implemented from scratch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 algorithms for search, sort, and pathfinding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Functional modules covering all airport operations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O(1)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O(V+E)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 complexity across operations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Console-based, zero external dependencies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096000"/>
            <a:ext cx="14732000" cy="508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350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Scenario: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handles practical airport challenges — overbooked flights trigger automatic waitlist management via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flight cancellations propagate passenger notifications through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 Lists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route planning computes optimal paths using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Dijkstra's Algorithm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 weighted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representation of the airport network.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524000"/>
            <a:ext cx="4699000" cy="6858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24000"/>
            <a:ext cx="4699000" cy="508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1778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Objectives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2349500"/>
            <a:ext cx="4191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 a fully functional airport system using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DSA concepts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C++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 practical application of: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Arrays &amp; Linked Lists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Trees &amp; Graphs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Hash Tables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Stacks &amp; Queues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 operations using appropriate algorithms for sorting, searching, and shortest-path computation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524000"/>
            <a:ext cx="4699000" cy="6858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0" y="1524000"/>
            <a:ext cx="4699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25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1778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2500" y="2349500"/>
            <a:ext cx="4191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Flight management (add, delete, search, sort)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Passenger booking with seat allocation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Runway queue (takeoff/landing scheduling)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Shortest route finder between airports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Admin dashboard with analytics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524000"/>
            <a:ext cx="4699000" cy="6858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95000" y="1524000"/>
            <a:ext cx="4699000" cy="5080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26775" y="180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91122" y="200025"/>
                </a:moveTo>
                <a:cubicBezTo>
                  <a:pt x="99943" y="243572"/>
                  <a:pt x="134253" y="277882"/>
                  <a:pt x="177800" y="286703"/>
                </a:cubicBezTo>
                <a:lnTo>
                  <a:pt x="177800" y="277813"/>
                </a:lnTo>
                <a:cubicBezTo>
                  <a:pt x="177800" y="265519"/>
                  <a:pt x="187732" y="255587"/>
                  <a:pt x="200025" y="255587"/>
                </a:cubicBezTo>
                <a:cubicBezTo>
                  <a:pt x="212318" y="255587"/>
                  <a:pt x="222250" y="265519"/>
                  <a:pt x="222250" y="277813"/>
                </a:cubicBezTo>
                <a:lnTo>
                  <a:pt x="222250" y="286703"/>
                </a:lnTo>
                <a:cubicBezTo>
                  <a:pt x="265797" y="277882"/>
                  <a:pt x="300107" y="243572"/>
                  <a:pt x="308928" y="200025"/>
                </a:cubicBezTo>
                <a:lnTo>
                  <a:pt x="300038" y="200025"/>
                </a:lnTo>
                <a:cubicBezTo>
                  <a:pt x="287744" y="200025"/>
                  <a:pt x="277813" y="190093"/>
                  <a:pt x="277813" y="177800"/>
                </a:cubicBezTo>
                <a:cubicBezTo>
                  <a:pt x="277813" y="165507"/>
                  <a:pt x="287744" y="155575"/>
                  <a:pt x="300038" y="155575"/>
                </a:cubicBezTo>
                <a:lnTo>
                  <a:pt x="308928" y="155575"/>
                </a:lnTo>
                <a:cubicBezTo>
                  <a:pt x="300107" y="112028"/>
                  <a:pt x="265797" y="77718"/>
                  <a:pt x="222250" y="68898"/>
                </a:cubicBezTo>
                <a:lnTo>
                  <a:pt x="222250" y="77788"/>
                </a:lnTo>
                <a:cubicBezTo>
                  <a:pt x="222250" y="90081"/>
                  <a:pt x="212318" y="100013"/>
                  <a:pt x="200025" y="100013"/>
                </a:cubicBezTo>
                <a:cubicBezTo>
                  <a:pt x="187732" y="100013"/>
                  <a:pt x="177800" y="90081"/>
                  <a:pt x="177800" y="77788"/>
                </a:cubicBezTo>
                <a:lnTo>
                  <a:pt x="177800" y="68898"/>
                </a:lnTo>
                <a:cubicBezTo>
                  <a:pt x="134253" y="77718"/>
                  <a:pt x="99943" y="112028"/>
                  <a:pt x="91122" y="155575"/>
                </a:cubicBezTo>
                <a:lnTo>
                  <a:pt x="100013" y="155575"/>
                </a:lnTo>
                <a:cubicBezTo>
                  <a:pt x="112306" y="155575"/>
                  <a:pt x="122238" y="165507"/>
                  <a:pt x="122238" y="177800"/>
                </a:cubicBezTo>
                <a:cubicBezTo>
                  <a:pt x="122238" y="190093"/>
                  <a:pt x="112306" y="200025"/>
                  <a:pt x="100013" y="200025"/>
                </a:cubicBezTo>
                <a:lnTo>
                  <a:pt x="91122" y="200025"/>
                </a:lnTo>
                <a:close/>
                <a:moveTo>
                  <a:pt x="200025" y="144463"/>
                </a:moveTo>
                <a:cubicBezTo>
                  <a:pt x="218424" y="144463"/>
                  <a:pt x="233363" y="159401"/>
                  <a:pt x="233363" y="177800"/>
                </a:cubicBezTo>
                <a:cubicBezTo>
                  <a:pt x="233363" y="196199"/>
                  <a:pt x="218424" y="211138"/>
                  <a:pt x="200025" y="211138"/>
                </a:cubicBezTo>
                <a:cubicBezTo>
                  <a:pt x="181626" y="211138"/>
                  <a:pt x="166688" y="196199"/>
                  <a:pt x="166688" y="177800"/>
                </a:cubicBezTo>
                <a:cubicBezTo>
                  <a:pt x="166688" y="159401"/>
                  <a:pt x="181626" y="144463"/>
                  <a:pt x="200025" y="144463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23" name="Text 21"/>
          <p:cNvSpPr/>
          <p:nvPr/>
        </p:nvSpPr>
        <p:spPr>
          <a:xfrm>
            <a:off x="11531600" y="1778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Scope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049000" y="2349500"/>
            <a:ext cx="4191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Console-based C++ application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Single-airport operations with multi-city route network connectivity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In-memory data storage using custom-built data structures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Persistence: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I/O for data saving and loading between sessions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556000"/>
            <a:ext cx="1016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810000"/>
            <a:ext cx="546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699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DSA concepts powering the airport management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98000" y="3556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238125"/>
                </a:moveTo>
                <a:cubicBezTo>
                  <a:pt x="0" y="159246"/>
                  <a:pt x="63996" y="95250"/>
                  <a:pt x="142875" y="95250"/>
                </a:cubicBezTo>
                <a:lnTo>
                  <a:pt x="428625" y="95250"/>
                </a:lnTo>
                <a:cubicBezTo>
                  <a:pt x="507504" y="95250"/>
                  <a:pt x="571500" y="159246"/>
                  <a:pt x="571500" y="238125"/>
                </a:cubicBezTo>
                <a:lnTo>
                  <a:pt x="571500" y="285750"/>
                </a:lnTo>
                <a:lnTo>
                  <a:pt x="952500" y="285750"/>
                </a:lnTo>
                <a:lnTo>
                  <a:pt x="952500" y="238125"/>
                </a:lnTo>
                <a:cubicBezTo>
                  <a:pt x="952500" y="159246"/>
                  <a:pt x="1016496" y="95250"/>
                  <a:pt x="1095375" y="95250"/>
                </a:cubicBezTo>
                <a:lnTo>
                  <a:pt x="1381125" y="95250"/>
                </a:lnTo>
                <a:cubicBezTo>
                  <a:pt x="1460004" y="95250"/>
                  <a:pt x="1524000" y="159246"/>
                  <a:pt x="1524000" y="238125"/>
                </a:cubicBezTo>
                <a:lnTo>
                  <a:pt x="1524000" y="523875"/>
                </a:lnTo>
                <a:cubicBezTo>
                  <a:pt x="1524000" y="602754"/>
                  <a:pt x="1460004" y="666750"/>
                  <a:pt x="1381125" y="666750"/>
                </a:cubicBezTo>
                <a:lnTo>
                  <a:pt x="1095375" y="666750"/>
                </a:lnTo>
                <a:cubicBezTo>
                  <a:pt x="1016496" y="666750"/>
                  <a:pt x="952500" y="602754"/>
                  <a:pt x="952500" y="523875"/>
                </a:cubicBezTo>
                <a:lnTo>
                  <a:pt x="952500" y="476250"/>
                </a:lnTo>
                <a:lnTo>
                  <a:pt x="571500" y="476250"/>
                </a:lnTo>
                <a:lnTo>
                  <a:pt x="571500" y="523875"/>
                </a:lnTo>
                <a:cubicBezTo>
                  <a:pt x="571500" y="545604"/>
                  <a:pt x="566440" y="566440"/>
                  <a:pt x="557808" y="584895"/>
                </a:cubicBezTo>
                <a:lnTo>
                  <a:pt x="762000" y="857250"/>
                </a:lnTo>
                <a:lnTo>
                  <a:pt x="1000125" y="857250"/>
                </a:lnTo>
                <a:cubicBezTo>
                  <a:pt x="1079004" y="857250"/>
                  <a:pt x="1143000" y="921246"/>
                  <a:pt x="1143000" y="1000125"/>
                </a:cubicBezTo>
                <a:lnTo>
                  <a:pt x="1143000" y="1285875"/>
                </a:lnTo>
                <a:cubicBezTo>
                  <a:pt x="1143000" y="1364754"/>
                  <a:pt x="1079004" y="1428750"/>
                  <a:pt x="1000125" y="1428750"/>
                </a:cubicBezTo>
                <a:lnTo>
                  <a:pt x="714375" y="1428750"/>
                </a:lnTo>
                <a:cubicBezTo>
                  <a:pt x="635496" y="1428750"/>
                  <a:pt x="571500" y="1364754"/>
                  <a:pt x="571500" y="1285875"/>
                </a:cubicBezTo>
                <a:lnTo>
                  <a:pt x="571500" y="1000125"/>
                </a:lnTo>
                <a:cubicBezTo>
                  <a:pt x="571500" y="978396"/>
                  <a:pt x="576560" y="957560"/>
                  <a:pt x="585192" y="939105"/>
                </a:cubicBezTo>
                <a:lnTo>
                  <a:pt x="381000" y="666750"/>
                </a:lnTo>
                <a:lnTo>
                  <a:pt x="142875" y="666750"/>
                </a:lnTo>
                <a:cubicBezTo>
                  <a:pt x="63996" y="666750"/>
                  <a:pt x="0" y="602754"/>
                  <a:pt x="0" y="523875"/>
                </a:cubicBezTo>
                <a:lnTo>
                  <a:pt x="0" y="238125"/>
                </a:lnTo>
                <a:close/>
              </a:path>
            </a:pathLst>
          </a:custGeom>
          <a:solidFill>
            <a:srgbClr val="1B3A5C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5588000"/>
            <a:ext cx="5080000" cy="0"/>
          </a:xfrm>
          <a:prstGeom prst="straightConnector1">
            <a:avLst/>
          </a:prstGeom>
          <a:noFill/>
          <a:ln w="12700">
            <a:solidFill>
              <a:srgbClr val="D0D8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Structures Used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986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498600"/>
            <a:ext cx="50800" cy="22225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625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Arrays (2D)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19812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Seat Matrix, Flight Schedule Grid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311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arrays store seat availability matrices with O(1) access for booking checks. Fixed-size flight schedule tables enable direct indexing.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4986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0" y="1498600"/>
            <a:ext cx="50800" cy="22225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2500" y="1625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 Lists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19812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Flight Lists, Waitlists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2311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Singly and doubly linked lists manage dynamic flight rosters and passenger waitlists. O(1) insertion/deletion at head for efficient updates.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4986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95000" y="1498600"/>
            <a:ext cx="50800" cy="22225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1625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19812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Undo Operations, History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2311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LIFO stack structure enables undo functionality for admin actions and supports recursive algorithm call tracking for tree traversals.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39751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3975100"/>
            <a:ext cx="50800" cy="2222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4102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Queues (Priority)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44577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Runway Management, Scheduling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47879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Circular and priority queues manage takeoff/landing sequences. Emergency landings get highest priority via custom comparator logic.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78500" y="39751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78500" y="3975100"/>
            <a:ext cx="50800" cy="2222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032500" y="4102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Search Trees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32500" y="44577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 Search, Sorted Storage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0" y="47879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BST and AVL trees store flights sorted by number or departure time. Balanced trees guarantee O(log n) for search, insert, and delete.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795000" y="3975100"/>
            <a:ext cx="4699000" cy="2222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95000" y="3975100"/>
            <a:ext cx="50800" cy="2222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11049000" y="4102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 Tables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49000" y="44577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Passenger Lookup, Flight Index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49000" y="47879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 tables with chaining enable O(1) average-case lookup for passengers by ticket ID and flights by destination city code.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6477000"/>
            <a:ext cx="14732000" cy="508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000" y="6731000"/>
            <a:ext cx="50800" cy="1651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9500" y="704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44" name="Text 42"/>
          <p:cNvSpPr/>
          <p:nvPr/>
        </p:nvSpPr>
        <p:spPr>
          <a:xfrm>
            <a:off x="1651000" y="698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Graphs (Adjacency List)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651000" y="7429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directed graphs model the airport route network where vertices represent airports and edges represent flight routes with distance/time weights. Adjacency list provides space-efficient O(V+E) storage and enables efficient traversal for shortest-path algorithms.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Algorithms Implemented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98600"/>
          <a:ext cx="14732000" cy="6858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Sorting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Quick Sort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Sort flights by departure 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 avg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 Sort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Stable sort for flight numbers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Bubble Sort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Educational: small datasets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Searching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 flights by time (sorted)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Hash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Ticket ID / destination lookup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O(1) avg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Graph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Dijkstra's 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Shortest path between airports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O((V+E)log 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84836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Additional: BFS/DFS for route existence, Tree Traversals for report generation, Stack-based Undo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556000"/>
            <a:ext cx="1016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810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699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modules, and feature breakdown of the airport management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98000" y="3556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571500" y="190500"/>
                </a:moveTo>
                <a:cubicBezTo>
                  <a:pt x="571500" y="137815"/>
                  <a:pt x="614065" y="95250"/>
                  <a:pt x="666750" y="95250"/>
                </a:cubicBezTo>
                <a:lnTo>
                  <a:pt x="857250" y="95250"/>
                </a:lnTo>
                <a:cubicBezTo>
                  <a:pt x="909935" y="95250"/>
                  <a:pt x="952500" y="137815"/>
                  <a:pt x="952500" y="190500"/>
                </a:cubicBezTo>
                <a:lnTo>
                  <a:pt x="952500" y="381000"/>
                </a:lnTo>
                <a:cubicBezTo>
                  <a:pt x="952500" y="433685"/>
                  <a:pt x="909935" y="476250"/>
                  <a:pt x="857250" y="476250"/>
                </a:cubicBezTo>
                <a:lnTo>
                  <a:pt x="833438" y="476250"/>
                </a:lnTo>
                <a:lnTo>
                  <a:pt x="833438" y="666750"/>
                </a:lnTo>
                <a:lnTo>
                  <a:pt x="1190625" y="666750"/>
                </a:lnTo>
                <a:cubicBezTo>
                  <a:pt x="1309092" y="666750"/>
                  <a:pt x="1404938" y="762595"/>
                  <a:pt x="1404938" y="881062"/>
                </a:cubicBezTo>
                <a:lnTo>
                  <a:pt x="1404938" y="1047750"/>
                </a:lnTo>
                <a:lnTo>
                  <a:pt x="1428750" y="1047750"/>
                </a:lnTo>
                <a:cubicBezTo>
                  <a:pt x="1481435" y="1047750"/>
                  <a:pt x="1524000" y="1090315"/>
                  <a:pt x="1524000" y="1143000"/>
                </a:cubicBezTo>
                <a:lnTo>
                  <a:pt x="1524000" y="1333500"/>
                </a:lnTo>
                <a:cubicBezTo>
                  <a:pt x="1524000" y="1386185"/>
                  <a:pt x="1481435" y="1428750"/>
                  <a:pt x="1428750" y="1428750"/>
                </a:cubicBezTo>
                <a:lnTo>
                  <a:pt x="1238250" y="1428750"/>
                </a:lnTo>
                <a:cubicBezTo>
                  <a:pt x="1185565" y="1428750"/>
                  <a:pt x="1143000" y="1386185"/>
                  <a:pt x="1143000" y="1333500"/>
                </a:cubicBezTo>
                <a:lnTo>
                  <a:pt x="1143000" y="1143000"/>
                </a:lnTo>
                <a:cubicBezTo>
                  <a:pt x="1143000" y="1090315"/>
                  <a:pt x="1185565" y="1047750"/>
                  <a:pt x="1238250" y="1047750"/>
                </a:cubicBezTo>
                <a:lnTo>
                  <a:pt x="1262063" y="1047750"/>
                </a:lnTo>
                <a:lnTo>
                  <a:pt x="1262063" y="881062"/>
                </a:lnTo>
                <a:cubicBezTo>
                  <a:pt x="1262063" y="841474"/>
                  <a:pt x="1230213" y="809625"/>
                  <a:pt x="1190625" y="809625"/>
                </a:cubicBezTo>
                <a:lnTo>
                  <a:pt x="833438" y="809625"/>
                </a:lnTo>
                <a:lnTo>
                  <a:pt x="833438" y="1047750"/>
                </a:lnTo>
                <a:lnTo>
                  <a:pt x="857250" y="1047750"/>
                </a:lnTo>
                <a:cubicBezTo>
                  <a:pt x="909935" y="1047750"/>
                  <a:pt x="952500" y="1090315"/>
                  <a:pt x="952500" y="1143000"/>
                </a:cubicBezTo>
                <a:lnTo>
                  <a:pt x="952500" y="1333500"/>
                </a:lnTo>
                <a:cubicBezTo>
                  <a:pt x="952500" y="1386185"/>
                  <a:pt x="909935" y="1428750"/>
                  <a:pt x="857250" y="1428750"/>
                </a:cubicBezTo>
                <a:lnTo>
                  <a:pt x="666750" y="1428750"/>
                </a:lnTo>
                <a:cubicBezTo>
                  <a:pt x="614065" y="1428750"/>
                  <a:pt x="571500" y="1386185"/>
                  <a:pt x="571500" y="1333500"/>
                </a:cubicBezTo>
                <a:lnTo>
                  <a:pt x="571500" y="1143000"/>
                </a:lnTo>
                <a:cubicBezTo>
                  <a:pt x="571500" y="1090315"/>
                  <a:pt x="614065" y="1047750"/>
                  <a:pt x="666750" y="1047750"/>
                </a:cubicBezTo>
                <a:lnTo>
                  <a:pt x="690563" y="1047750"/>
                </a:lnTo>
                <a:lnTo>
                  <a:pt x="690563" y="809625"/>
                </a:lnTo>
                <a:lnTo>
                  <a:pt x="333375" y="809625"/>
                </a:lnTo>
                <a:cubicBezTo>
                  <a:pt x="293787" y="809625"/>
                  <a:pt x="261938" y="841474"/>
                  <a:pt x="261938" y="881062"/>
                </a:cubicBezTo>
                <a:lnTo>
                  <a:pt x="261938" y="1047750"/>
                </a:lnTo>
                <a:lnTo>
                  <a:pt x="285750" y="1047750"/>
                </a:lnTo>
                <a:cubicBezTo>
                  <a:pt x="338435" y="1047750"/>
                  <a:pt x="381000" y="1090315"/>
                  <a:pt x="381000" y="1143000"/>
                </a:cubicBezTo>
                <a:lnTo>
                  <a:pt x="381000" y="1333500"/>
                </a:lnTo>
                <a:cubicBezTo>
                  <a:pt x="381000" y="1386185"/>
                  <a:pt x="338435" y="1428750"/>
                  <a:pt x="285750" y="1428750"/>
                </a:cubicBezTo>
                <a:lnTo>
                  <a:pt x="95250" y="1428750"/>
                </a:lnTo>
                <a:cubicBezTo>
                  <a:pt x="42565" y="1428750"/>
                  <a:pt x="0" y="1386185"/>
                  <a:pt x="0" y="1333500"/>
                </a:cubicBezTo>
                <a:lnTo>
                  <a:pt x="0" y="1143000"/>
                </a:lnTo>
                <a:cubicBezTo>
                  <a:pt x="0" y="1090315"/>
                  <a:pt x="42565" y="1047750"/>
                  <a:pt x="95250" y="1047750"/>
                </a:cubicBezTo>
                <a:lnTo>
                  <a:pt x="119063" y="1047750"/>
                </a:lnTo>
                <a:lnTo>
                  <a:pt x="119063" y="881062"/>
                </a:lnTo>
                <a:cubicBezTo>
                  <a:pt x="119063" y="762595"/>
                  <a:pt x="214908" y="666750"/>
                  <a:pt x="333375" y="666750"/>
                </a:cubicBezTo>
                <a:lnTo>
                  <a:pt x="690563" y="666750"/>
                </a:lnTo>
                <a:lnTo>
                  <a:pt x="690563" y="476250"/>
                </a:lnTo>
                <a:lnTo>
                  <a:pt x="666750" y="476250"/>
                </a:lnTo>
                <a:cubicBezTo>
                  <a:pt x="614065" y="476250"/>
                  <a:pt x="571500" y="433685"/>
                  <a:pt x="571500" y="381000"/>
                </a:cubicBezTo>
                <a:lnTo>
                  <a:pt x="571500" y="190500"/>
                </a:lnTo>
                <a:close/>
              </a:path>
            </a:pathLst>
          </a:custGeom>
          <a:solidFill>
            <a:srgbClr val="1B3A5C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5588000"/>
            <a:ext cx="5080000" cy="0"/>
          </a:xfrm>
          <a:prstGeom prst="straightConnector1">
            <a:avLst/>
          </a:prstGeom>
          <a:noFill/>
          <a:ln w="12700">
            <a:solidFill>
              <a:srgbClr val="D0D8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146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Architecture with 5 Core Modules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9685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03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349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 Menu System → User Input Handler → Formatted Output Display → Session Manager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74000" y="29845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62000" y="3302000"/>
            <a:ext cx="14732000" cy="1524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365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3746500"/>
            <a:ext cx="2667000" cy="889000"/>
          </a:xfrm>
          <a:prstGeom prst="rect">
            <a:avLst/>
          </a:prstGeom>
          <a:solidFill>
            <a:srgbClr val="3A5A7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746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 Module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+ Search + Sort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37000" y="3746500"/>
            <a:ext cx="2667000" cy="889000"/>
          </a:xfrm>
          <a:prstGeom prst="rect">
            <a:avLst/>
          </a:prstGeom>
          <a:solidFill>
            <a:srgbClr val="3A5A7E"/>
          </a:solidFill>
          <a:ln/>
        </p:spPr>
      </p:sp>
      <p:sp>
        <p:nvSpPr>
          <p:cNvPr id="20" name="Text 18"/>
          <p:cNvSpPr/>
          <p:nvPr/>
        </p:nvSpPr>
        <p:spPr>
          <a:xfrm>
            <a:off x="3937000" y="3746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Passenger Module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+ Seat + Waitlist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3746500"/>
            <a:ext cx="2667000" cy="889000"/>
          </a:xfrm>
          <a:prstGeom prst="rect">
            <a:avLst/>
          </a:prstGeom>
          <a:solidFill>
            <a:srgbClr val="3A5A7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746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Runway Module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+ Scheduling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79000" y="3746500"/>
            <a:ext cx="2667000" cy="889000"/>
          </a:xfrm>
          <a:prstGeom prst="rect">
            <a:avLst/>
          </a:prstGeom>
          <a:solidFill>
            <a:srgbClr val="3A5A7E"/>
          </a:solidFill>
          <a:ln/>
        </p:spPr>
      </p:sp>
      <p:sp>
        <p:nvSpPr>
          <p:cNvPr id="24" name="Text 22"/>
          <p:cNvSpPr/>
          <p:nvPr/>
        </p:nvSpPr>
        <p:spPr>
          <a:xfrm>
            <a:off x="9779000" y="3746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Module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+ Dijkstra's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0" y="3746500"/>
            <a:ext cx="2540000" cy="889000"/>
          </a:xfrm>
          <a:prstGeom prst="rect">
            <a:avLst/>
          </a:prstGeom>
          <a:solidFill>
            <a:srgbClr val="3A5A7E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3746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Module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 + Analytics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74000" y="48260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62000" y="5143500"/>
            <a:ext cx="14732000" cy="101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520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5524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DSA Implementations → In-Memory Storage → File I/O Persistence → Data Serialization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47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6921500"/>
            <a:ext cx="14732000" cy="762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000" y="6921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Input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DSA Operations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Storage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Persistence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Features &amp; Workflows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98600"/>
            <a:ext cx="7175500" cy="3429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498600"/>
            <a:ext cx="7175500" cy="508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" y="1752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1131" y="16669"/>
                </a:moveTo>
                <a:cubicBezTo>
                  <a:pt x="161131" y="-4792"/>
                  <a:pt x="178564" y="-22225"/>
                  <a:pt x="200025" y="-22225"/>
                </a:cubicBezTo>
                <a:cubicBezTo>
                  <a:pt x="221486" y="-22225"/>
                  <a:pt x="238919" y="-4792"/>
                  <a:pt x="238919" y="16669"/>
                </a:cubicBezTo>
                <a:lnTo>
                  <a:pt x="238919" y="105083"/>
                </a:lnTo>
                <a:lnTo>
                  <a:pt x="293092" y="154742"/>
                </a:lnTo>
                <a:cubicBezTo>
                  <a:pt x="244961" y="174883"/>
                  <a:pt x="211138" y="222389"/>
                  <a:pt x="211138" y="277813"/>
                </a:cubicBezTo>
                <a:cubicBezTo>
                  <a:pt x="211138" y="312053"/>
                  <a:pt x="224056" y="343307"/>
                  <a:pt x="245239" y="366921"/>
                </a:cubicBezTo>
                <a:lnTo>
                  <a:pt x="200025" y="355600"/>
                </a:lnTo>
                <a:lnTo>
                  <a:pt x="124946" y="374352"/>
                </a:lnTo>
                <a:cubicBezTo>
                  <a:pt x="117931" y="376089"/>
                  <a:pt x="111125" y="370810"/>
                  <a:pt x="111125" y="363587"/>
                </a:cubicBezTo>
                <a:lnTo>
                  <a:pt x="111125" y="349835"/>
                </a:lnTo>
                <a:cubicBezTo>
                  <a:pt x="111125" y="346432"/>
                  <a:pt x="112653" y="343237"/>
                  <a:pt x="115292" y="341154"/>
                </a:cubicBezTo>
                <a:lnTo>
                  <a:pt x="161131" y="304483"/>
                </a:lnTo>
                <a:lnTo>
                  <a:pt x="161131" y="235238"/>
                </a:lnTo>
                <a:lnTo>
                  <a:pt x="47992" y="272951"/>
                </a:lnTo>
                <a:cubicBezTo>
                  <a:pt x="40769" y="275312"/>
                  <a:pt x="33337" y="269964"/>
                  <a:pt x="33337" y="262394"/>
                </a:cubicBezTo>
                <a:lnTo>
                  <a:pt x="33337" y="232043"/>
                </a:lnTo>
                <a:cubicBezTo>
                  <a:pt x="33337" y="225792"/>
                  <a:pt x="35977" y="219889"/>
                  <a:pt x="40561" y="215652"/>
                </a:cubicBezTo>
                <a:lnTo>
                  <a:pt x="161131" y="105083"/>
                </a:lnTo>
                <a:lnTo>
                  <a:pt x="161131" y="16669"/>
                </a:lnTo>
                <a:close/>
                <a:moveTo>
                  <a:pt x="244475" y="277813"/>
                </a:moveTo>
                <a:cubicBezTo>
                  <a:pt x="244475" y="222614"/>
                  <a:pt x="289289" y="177800"/>
                  <a:pt x="344488" y="177800"/>
                </a:cubicBezTo>
                <a:cubicBezTo>
                  <a:pt x="399686" y="177800"/>
                  <a:pt x="444500" y="222614"/>
                  <a:pt x="444500" y="277812"/>
                </a:cubicBezTo>
                <a:cubicBezTo>
                  <a:pt x="444500" y="333011"/>
                  <a:pt x="399686" y="377825"/>
                  <a:pt x="344488" y="377825"/>
                </a:cubicBezTo>
                <a:cubicBezTo>
                  <a:pt x="289289" y="377825"/>
                  <a:pt x="244475" y="333011"/>
                  <a:pt x="244475" y="277813"/>
                </a:cubicBezTo>
                <a:close/>
                <a:moveTo>
                  <a:pt x="384354" y="235516"/>
                </a:moveTo>
                <a:cubicBezTo>
                  <a:pt x="379422" y="231904"/>
                  <a:pt x="372408" y="233015"/>
                  <a:pt x="368796" y="237946"/>
                </a:cubicBezTo>
                <a:lnTo>
                  <a:pt x="331986" y="288578"/>
                </a:lnTo>
                <a:lnTo>
                  <a:pt x="313373" y="269964"/>
                </a:lnTo>
                <a:cubicBezTo>
                  <a:pt x="309066" y="265658"/>
                  <a:pt x="301982" y="265658"/>
                  <a:pt x="297676" y="269964"/>
                </a:cubicBezTo>
                <a:cubicBezTo>
                  <a:pt x="293370" y="274270"/>
                  <a:pt x="293370" y="281355"/>
                  <a:pt x="297676" y="285661"/>
                </a:cubicBezTo>
                <a:lnTo>
                  <a:pt x="325457" y="313442"/>
                </a:lnTo>
                <a:cubicBezTo>
                  <a:pt x="327749" y="315734"/>
                  <a:pt x="330944" y="316915"/>
                  <a:pt x="334208" y="316637"/>
                </a:cubicBezTo>
                <a:cubicBezTo>
                  <a:pt x="337473" y="316359"/>
                  <a:pt x="340390" y="314692"/>
                  <a:pt x="342334" y="312122"/>
                </a:cubicBezTo>
                <a:lnTo>
                  <a:pt x="386784" y="251004"/>
                </a:lnTo>
                <a:cubicBezTo>
                  <a:pt x="390396" y="246072"/>
                  <a:pt x="389285" y="239058"/>
                  <a:pt x="384354" y="235516"/>
                </a:cubicBez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17272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Flight Management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2222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flights with auto-generated flight numbers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by destination (Hash Table) or time (BST)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Sort flights by departure (Quick Sort)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Cancel with automatic passenger notification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1498600"/>
            <a:ext cx="7175500" cy="3429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8500" y="1498600"/>
            <a:ext cx="71755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0275" y="1752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133350"/>
                </a:lnTo>
                <a:cubicBezTo>
                  <a:pt x="0" y="139462"/>
                  <a:pt x="5140" y="144254"/>
                  <a:pt x="10904" y="146268"/>
                </a:cubicBezTo>
                <a:cubicBezTo>
                  <a:pt x="23961" y="150783"/>
                  <a:pt x="33337" y="163215"/>
                  <a:pt x="33337" y="177800"/>
                </a:cubicBezTo>
                <a:cubicBezTo>
                  <a:pt x="33337" y="192385"/>
                  <a:pt x="23961" y="204817"/>
                  <a:pt x="10904" y="209332"/>
                </a:cubicBezTo>
                <a:cubicBezTo>
                  <a:pt x="5140" y="211346"/>
                  <a:pt x="0" y="216138"/>
                  <a:pt x="0" y="22225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222250"/>
                </a:lnTo>
                <a:cubicBezTo>
                  <a:pt x="400050" y="216138"/>
                  <a:pt x="394910" y="211346"/>
                  <a:pt x="389146" y="209332"/>
                </a:cubicBezTo>
                <a:cubicBezTo>
                  <a:pt x="376089" y="204817"/>
                  <a:pt x="366712" y="192385"/>
                  <a:pt x="366712" y="177800"/>
                </a:cubicBezTo>
                <a:cubicBezTo>
                  <a:pt x="366712" y="163215"/>
                  <a:pt x="376089" y="150783"/>
                  <a:pt x="389146" y="146268"/>
                </a:cubicBezTo>
                <a:cubicBezTo>
                  <a:pt x="394910" y="144254"/>
                  <a:pt x="400050" y="139462"/>
                  <a:pt x="400050" y="13335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288925" y="233363"/>
                </a:moveTo>
                <a:lnTo>
                  <a:pt x="288925" y="122238"/>
                </a:lnTo>
                <a:lnTo>
                  <a:pt x="111125" y="122238"/>
                </a:lnTo>
                <a:lnTo>
                  <a:pt x="111125" y="233363"/>
                </a:lnTo>
                <a:lnTo>
                  <a:pt x="288925" y="233363"/>
                </a:lnTo>
                <a:close/>
                <a:moveTo>
                  <a:pt x="77788" y="111125"/>
                </a:moveTo>
                <a:cubicBezTo>
                  <a:pt x="77788" y="98832"/>
                  <a:pt x="87719" y="88900"/>
                  <a:pt x="100013" y="88900"/>
                </a:cubicBezTo>
                <a:lnTo>
                  <a:pt x="300038" y="88900"/>
                </a:lnTo>
                <a:cubicBezTo>
                  <a:pt x="312331" y="88900"/>
                  <a:pt x="322263" y="98832"/>
                  <a:pt x="322263" y="111125"/>
                </a:cubicBezTo>
                <a:lnTo>
                  <a:pt x="322263" y="244475"/>
                </a:lnTo>
                <a:cubicBezTo>
                  <a:pt x="322263" y="256768"/>
                  <a:pt x="312331" y="266700"/>
                  <a:pt x="300038" y="266700"/>
                </a:cubicBezTo>
                <a:lnTo>
                  <a:pt x="100013" y="266700"/>
                </a:lnTo>
                <a:cubicBezTo>
                  <a:pt x="87719" y="266700"/>
                  <a:pt x="77788" y="256768"/>
                  <a:pt x="77788" y="244475"/>
                </a:cubicBezTo>
                <a:lnTo>
                  <a:pt x="77788" y="111125"/>
                </a:ln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9055100" y="17272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Passenger Booking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72500" y="2222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flights → Select → Choose seat (2D Array)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ticket with unique Hash Table entry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seat matrix: booked/available display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 waitlist via Queue for overbooked flights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181600"/>
            <a:ext cx="7175500" cy="3238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181600"/>
            <a:ext cx="71755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543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06" y="22225"/>
                </a:moveTo>
                <a:lnTo>
                  <a:pt x="102582" y="22225"/>
                </a:lnTo>
                <a:cubicBezTo>
                  <a:pt x="82163" y="22225"/>
                  <a:pt x="64314" y="36185"/>
                  <a:pt x="59452" y="55979"/>
                </a:cubicBezTo>
                <a:lnTo>
                  <a:pt x="972" y="292050"/>
                </a:lnTo>
                <a:cubicBezTo>
                  <a:pt x="-4237" y="313025"/>
                  <a:pt x="11668" y="333375"/>
                  <a:pt x="33337" y="333375"/>
                </a:cubicBezTo>
                <a:lnTo>
                  <a:pt x="155506" y="333375"/>
                </a:lnTo>
                <a:lnTo>
                  <a:pt x="155506" y="288925"/>
                </a:lnTo>
                <a:cubicBezTo>
                  <a:pt x="155506" y="276632"/>
                  <a:pt x="165437" y="266700"/>
                  <a:pt x="177731" y="266700"/>
                </a:cubicBezTo>
                <a:cubicBezTo>
                  <a:pt x="190024" y="266700"/>
                  <a:pt x="199956" y="276632"/>
                  <a:pt x="199956" y="288925"/>
                </a:cubicBezTo>
                <a:lnTo>
                  <a:pt x="199956" y="333375"/>
                </a:lnTo>
                <a:lnTo>
                  <a:pt x="322263" y="333375"/>
                </a:lnTo>
                <a:cubicBezTo>
                  <a:pt x="343932" y="333375"/>
                  <a:pt x="359837" y="313025"/>
                  <a:pt x="354628" y="292050"/>
                </a:cubicBezTo>
                <a:lnTo>
                  <a:pt x="296218" y="55979"/>
                </a:lnTo>
                <a:cubicBezTo>
                  <a:pt x="291286" y="36185"/>
                  <a:pt x="273506" y="22225"/>
                  <a:pt x="253018" y="22225"/>
                </a:cubicBezTo>
                <a:lnTo>
                  <a:pt x="199956" y="22225"/>
                </a:lnTo>
                <a:lnTo>
                  <a:pt x="199956" y="66675"/>
                </a:lnTo>
                <a:cubicBezTo>
                  <a:pt x="199956" y="78968"/>
                  <a:pt x="190024" y="88900"/>
                  <a:pt x="177731" y="88900"/>
                </a:cubicBezTo>
                <a:cubicBezTo>
                  <a:pt x="165437" y="88900"/>
                  <a:pt x="155506" y="78968"/>
                  <a:pt x="155506" y="66675"/>
                </a:cubicBezTo>
                <a:lnTo>
                  <a:pt x="155506" y="22225"/>
                </a:lnTo>
                <a:close/>
                <a:moveTo>
                  <a:pt x="199956" y="155575"/>
                </a:moveTo>
                <a:lnTo>
                  <a:pt x="199956" y="200025"/>
                </a:lnTo>
                <a:cubicBezTo>
                  <a:pt x="199956" y="212318"/>
                  <a:pt x="190024" y="222250"/>
                  <a:pt x="177731" y="222250"/>
                </a:cubicBezTo>
                <a:cubicBezTo>
                  <a:pt x="165437" y="222250"/>
                  <a:pt x="155506" y="212318"/>
                  <a:pt x="155506" y="200025"/>
                </a:cubicBezTo>
                <a:lnTo>
                  <a:pt x="155506" y="155575"/>
                </a:lnTo>
                <a:cubicBezTo>
                  <a:pt x="155506" y="143282"/>
                  <a:pt x="165437" y="133350"/>
                  <a:pt x="177731" y="133350"/>
                </a:cubicBezTo>
                <a:cubicBezTo>
                  <a:pt x="190024" y="133350"/>
                  <a:pt x="199956" y="143282"/>
                  <a:pt x="199956" y="155575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" y="54102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Runway Operations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6000" y="5905500"/>
            <a:ext cx="666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Landing queue: priority by fuel emergency level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Takeoff queue: FIFO with delay-based priority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runway status display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Conflict detection and resolution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5181600"/>
            <a:ext cx="7175500" cy="3238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18500" y="5181600"/>
            <a:ext cx="7175500" cy="508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543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28" name="Text 26"/>
          <p:cNvSpPr/>
          <p:nvPr/>
        </p:nvSpPr>
        <p:spPr>
          <a:xfrm>
            <a:off x="9055100" y="54102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 Finder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572500" y="5905500"/>
            <a:ext cx="666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 source and destination airports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Dijkstra's computes shortest path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Display route with stops and distance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Alternative routes via BFS/DFS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556000"/>
            <a:ext cx="1016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81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699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highlights, complexity analysis, and future enhancements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02750" y="3556000"/>
            <a:ext cx="1714500" cy="1524000"/>
          </a:xfrm>
          <a:custGeom>
            <a:avLst/>
            <a:gdLst/>
            <a:ahLst/>
            <a:cxnLst/>
            <a:rect l="l" t="t" r="r" b="b"/>
            <a:pathLst>
              <a:path w="1714500" h="1524000">
                <a:moveTo>
                  <a:pt x="1073944" y="3572"/>
                </a:moveTo>
                <a:cubicBezTo>
                  <a:pt x="1023342" y="-11013"/>
                  <a:pt x="970657" y="18455"/>
                  <a:pt x="956072" y="69056"/>
                </a:cubicBezTo>
                <a:lnTo>
                  <a:pt x="575072" y="1402556"/>
                </a:lnTo>
                <a:cubicBezTo>
                  <a:pt x="560487" y="1453158"/>
                  <a:pt x="589955" y="1505843"/>
                  <a:pt x="640556" y="1520428"/>
                </a:cubicBezTo>
                <a:cubicBezTo>
                  <a:pt x="691158" y="1535013"/>
                  <a:pt x="743843" y="1505545"/>
                  <a:pt x="758428" y="1454944"/>
                </a:cubicBezTo>
                <a:lnTo>
                  <a:pt x="1139428" y="121444"/>
                </a:lnTo>
                <a:cubicBezTo>
                  <a:pt x="1154013" y="70842"/>
                  <a:pt x="1124545" y="18157"/>
                  <a:pt x="1073944" y="3572"/>
                </a:cubicBezTo>
                <a:close/>
                <a:moveTo>
                  <a:pt x="1266230" y="408682"/>
                </a:moveTo>
                <a:cubicBezTo>
                  <a:pt x="1229023" y="445889"/>
                  <a:pt x="1229023" y="506313"/>
                  <a:pt x="1266230" y="543520"/>
                </a:cubicBezTo>
                <a:lnTo>
                  <a:pt x="1484709" y="762000"/>
                </a:lnTo>
                <a:lnTo>
                  <a:pt x="1266230" y="980480"/>
                </a:lnTo>
                <a:cubicBezTo>
                  <a:pt x="1229023" y="1017687"/>
                  <a:pt x="1229023" y="1078111"/>
                  <a:pt x="1266230" y="1115318"/>
                </a:cubicBezTo>
                <a:cubicBezTo>
                  <a:pt x="1303437" y="1152525"/>
                  <a:pt x="1363861" y="1152525"/>
                  <a:pt x="1401068" y="1115318"/>
                </a:cubicBezTo>
                <a:lnTo>
                  <a:pt x="1686818" y="829568"/>
                </a:lnTo>
                <a:cubicBezTo>
                  <a:pt x="1724025" y="792361"/>
                  <a:pt x="1724025" y="731937"/>
                  <a:pt x="1686818" y="694730"/>
                </a:cubicBezTo>
                <a:lnTo>
                  <a:pt x="1401068" y="408980"/>
                </a:lnTo>
                <a:cubicBezTo>
                  <a:pt x="1363861" y="371773"/>
                  <a:pt x="1303437" y="371773"/>
                  <a:pt x="1266230" y="408980"/>
                </a:cubicBezTo>
                <a:close/>
                <a:moveTo>
                  <a:pt x="448568" y="408682"/>
                </a:moveTo>
                <a:cubicBezTo>
                  <a:pt x="411361" y="371475"/>
                  <a:pt x="350937" y="371475"/>
                  <a:pt x="313730" y="408682"/>
                </a:cubicBezTo>
                <a:lnTo>
                  <a:pt x="27980" y="694432"/>
                </a:lnTo>
                <a:cubicBezTo>
                  <a:pt x="-9227" y="731639"/>
                  <a:pt x="-9227" y="792063"/>
                  <a:pt x="27980" y="829270"/>
                </a:cubicBezTo>
                <a:lnTo>
                  <a:pt x="313730" y="1115020"/>
                </a:lnTo>
                <a:cubicBezTo>
                  <a:pt x="350937" y="1152227"/>
                  <a:pt x="411361" y="1152227"/>
                  <a:pt x="448568" y="1115020"/>
                </a:cubicBezTo>
                <a:cubicBezTo>
                  <a:pt x="485775" y="1077813"/>
                  <a:pt x="485775" y="1017389"/>
                  <a:pt x="448568" y="980182"/>
                </a:cubicBezTo>
                <a:lnTo>
                  <a:pt x="230088" y="762000"/>
                </a:lnTo>
                <a:lnTo>
                  <a:pt x="448270" y="543520"/>
                </a:lnTo>
                <a:cubicBezTo>
                  <a:pt x="485477" y="506313"/>
                  <a:pt x="485477" y="445889"/>
                  <a:pt x="448270" y="408682"/>
                </a:cubicBezTo>
                <a:close/>
              </a:path>
            </a:pathLst>
          </a:custGeom>
          <a:solidFill>
            <a:srgbClr val="1B3A5C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5588000"/>
            <a:ext cx="5080000" cy="0"/>
          </a:xfrm>
          <a:prstGeom prst="straightConnector1">
            <a:avLst/>
          </a:prstGeom>
          <a:noFill/>
          <a:ln w="12700">
            <a:solidFill>
              <a:srgbClr val="D0D8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98600"/>
            <a:ext cx="7175500" cy="3429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498600"/>
            <a:ext cx="50800" cy="34290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Design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2133600"/>
            <a:ext cx="6667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flightNo, destination, departure, arrival, seats, price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Passenger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name, ticketID, flightNo, seatNo, status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AirportGraph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adjacency list with weighted edges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RunwayQueue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priority queue with custom comparator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SeatMatrix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2D array with booking logic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1498600"/>
            <a:ext cx="7175500" cy="3429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8500" y="1498600"/>
            <a:ext cx="50800" cy="3429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3450" y="1676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4288"/>
                </a:moveTo>
                <a:cubicBezTo>
                  <a:pt x="28575" y="6370"/>
                  <a:pt x="22205" y="0"/>
                  <a:pt x="14288" y="0"/>
                </a:cubicBezTo>
                <a:cubicBezTo>
                  <a:pt x="6370" y="0"/>
                  <a:pt x="0" y="6370"/>
                  <a:pt x="0" y="14288"/>
                </a:cubicBezTo>
                <a:lnTo>
                  <a:pt x="0" y="233363"/>
                </a:lnTo>
                <a:cubicBezTo>
                  <a:pt x="0" y="251758"/>
                  <a:pt x="14942" y="266700"/>
                  <a:pt x="33338" y="266700"/>
                </a:cubicBezTo>
                <a:lnTo>
                  <a:pt x="142875" y="266700"/>
                </a:lnTo>
                <a:lnTo>
                  <a:pt x="142875" y="238125"/>
                </a:lnTo>
                <a:lnTo>
                  <a:pt x="33338" y="238125"/>
                </a:lnTo>
                <a:cubicBezTo>
                  <a:pt x="30718" y="238125"/>
                  <a:pt x="28575" y="235982"/>
                  <a:pt x="28575" y="233363"/>
                </a:cubicBezTo>
                <a:lnTo>
                  <a:pt x="28575" y="95250"/>
                </a:lnTo>
                <a:lnTo>
                  <a:pt x="142875" y="95250"/>
                </a:lnTo>
                <a:lnTo>
                  <a:pt x="142875" y="66675"/>
                </a:lnTo>
                <a:lnTo>
                  <a:pt x="28575" y="66675"/>
                </a:lnTo>
                <a:lnTo>
                  <a:pt x="28575" y="14288"/>
                </a:lnTo>
                <a:close/>
                <a:moveTo>
                  <a:pt x="200025" y="133350"/>
                </a:moveTo>
                <a:lnTo>
                  <a:pt x="314325" y="133350"/>
                </a:lnTo>
                <a:cubicBezTo>
                  <a:pt x="330101" y="133350"/>
                  <a:pt x="342900" y="120551"/>
                  <a:pt x="342900" y="104775"/>
                </a:cubicBezTo>
                <a:lnTo>
                  <a:pt x="342900" y="47625"/>
                </a:lnTo>
                <a:cubicBezTo>
                  <a:pt x="342900" y="31849"/>
                  <a:pt x="330101" y="19050"/>
                  <a:pt x="314325" y="19050"/>
                </a:cubicBezTo>
                <a:lnTo>
                  <a:pt x="265093" y="19050"/>
                </a:lnTo>
                <a:cubicBezTo>
                  <a:pt x="260033" y="19050"/>
                  <a:pt x="255210" y="17026"/>
                  <a:pt x="251639" y="13454"/>
                </a:cubicBezTo>
                <a:lnTo>
                  <a:pt x="246519" y="8334"/>
                </a:lnTo>
                <a:cubicBezTo>
                  <a:pt x="241161" y="2977"/>
                  <a:pt x="233898" y="-60"/>
                  <a:pt x="226338" y="-60"/>
                </a:cubicBezTo>
                <a:lnTo>
                  <a:pt x="200025" y="0"/>
                </a:lnTo>
                <a:cubicBezTo>
                  <a:pt x="184249" y="0"/>
                  <a:pt x="171450" y="12799"/>
                  <a:pt x="171450" y="28575"/>
                </a:cubicBezTo>
                <a:lnTo>
                  <a:pt x="171450" y="104775"/>
                </a:lnTo>
                <a:cubicBezTo>
                  <a:pt x="171450" y="120551"/>
                  <a:pt x="184249" y="133350"/>
                  <a:pt x="200025" y="133350"/>
                </a:cubicBezTo>
                <a:close/>
                <a:moveTo>
                  <a:pt x="200025" y="304800"/>
                </a:moveTo>
                <a:lnTo>
                  <a:pt x="314325" y="304800"/>
                </a:lnTo>
                <a:cubicBezTo>
                  <a:pt x="330101" y="304800"/>
                  <a:pt x="342900" y="292001"/>
                  <a:pt x="342900" y="276225"/>
                </a:cubicBezTo>
                <a:lnTo>
                  <a:pt x="342900" y="219075"/>
                </a:lnTo>
                <a:cubicBezTo>
                  <a:pt x="342900" y="203299"/>
                  <a:pt x="330101" y="190500"/>
                  <a:pt x="314325" y="190500"/>
                </a:cubicBezTo>
                <a:lnTo>
                  <a:pt x="265093" y="190500"/>
                </a:lnTo>
                <a:cubicBezTo>
                  <a:pt x="260033" y="190500"/>
                  <a:pt x="255210" y="188476"/>
                  <a:pt x="251639" y="184904"/>
                </a:cubicBezTo>
                <a:lnTo>
                  <a:pt x="246519" y="179784"/>
                </a:lnTo>
                <a:cubicBezTo>
                  <a:pt x="241161" y="174427"/>
                  <a:pt x="233898" y="171390"/>
                  <a:pt x="226338" y="171390"/>
                </a:cubicBezTo>
                <a:lnTo>
                  <a:pt x="200025" y="171450"/>
                </a:lnTo>
                <a:cubicBezTo>
                  <a:pt x="184249" y="171450"/>
                  <a:pt x="171450" y="184249"/>
                  <a:pt x="171450" y="200025"/>
                </a:cubicBezTo>
                <a:lnTo>
                  <a:pt x="171450" y="276225"/>
                </a:lnTo>
                <a:cubicBezTo>
                  <a:pt x="171450" y="292001"/>
                  <a:pt x="184249" y="304800"/>
                  <a:pt x="200025" y="304800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9004300" y="165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Organization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72500" y="2133600"/>
            <a:ext cx="6667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 files organized by module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Template classes for generic data structures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 overloading for clean, intuitive syntax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I/O for session persistence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Makefile build system with modular compilation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181600"/>
            <a:ext cx="14732000" cy="32385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181600"/>
            <a:ext cx="50800" cy="3238500"/>
          </a:xfrm>
          <a:prstGeom prst="rect">
            <a:avLst/>
          </a:prstGeom>
          <a:solidFill>
            <a:srgbClr val="C47D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77900" y="5359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5334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Patterns Applied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6000" y="5867400"/>
            <a:ext cx="4445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6500" y="596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Singleton Pattern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6500" y="6324600"/>
            <a:ext cx="406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AirportSystemManager ensures single global system instance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5867400"/>
            <a:ext cx="4445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5500" y="596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Factory Pattern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05500" y="6324600"/>
            <a:ext cx="406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FlightFactory and PassengerFactory for object creation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14000" y="5867400"/>
            <a:ext cx="4826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4500" y="5969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Observer Pattern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04500" y="63246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Waitlist notifications when seats become available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&amp; Space Complexity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98600"/>
          <a:ext cx="14732000" cy="558800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Structure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Flight Search by 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BST (AVL)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Balanced tree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Flight Search by Destination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Hash 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O(1) avg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Chaining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Sort Flights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Quick Sort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 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In-place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Shortest Route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Dijkstra's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O((V+E)log 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Min-heap PQ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Seat Booking Check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Array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O(1)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 access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Passenger Lookup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Hash 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O(1) avg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Ticket ID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Runway Scheduling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Priority Queue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7D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O(log 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heap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operation is optimized with the most appropriate data structure. Hash tables deliver constant-time lookups, BSTs enable logarithmic sorted access, and Dijkstra's with priority queue provides efficient shortest-path computation for the airport route network.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Future Scope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98600"/>
            <a:ext cx="717550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714500"/>
            <a:ext cx="6667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Achieved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21844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16000" y="2413000"/>
            <a:ext cx="66675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7+ data structures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implemented from scratch with full CRUD operations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core operations execute in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time complexity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Console UI with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menu-driven navigation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persistence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sessions via file I/O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Edge cases handled: overbooking, cancellation, unavailable routes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external dependencies — pure C++ and custom DSA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1498600"/>
            <a:ext cx="7175500" cy="6858000"/>
          </a:xfrm>
          <a:prstGeom prst="rect">
            <a:avLst/>
          </a:prstGeom>
          <a:solidFill>
            <a:srgbClr val="E8EDF2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1714500"/>
            <a:ext cx="6667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72500" y="2184400"/>
            <a:ext cx="762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572500" y="2413000"/>
            <a:ext cx="66675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Qt or similar framework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Multi-threading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concurrent runway ops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(MySQL/SQLite)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flight tracking with timestamps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sockets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distributed systems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APIs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live flight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0" y="635000"/>
            <a:ext cx="1524000" cy="1524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58420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1016000" cy="0"/>
          </a:xfrm>
          <a:prstGeom prst="straightConnector1">
            <a:avLst/>
          </a:prstGeom>
          <a:noFill/>
          <a:ln w="254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970000" y="7620000"/>
            <a:ext cx="1270000" cy="0"/>
          </a:xfrm>
          <a:prstGeom prst="straightConnector1">
            <a:avLst/>
          </a:prstGeom>
          <a:noFill/>
          <a:ln w="254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70800" y="2286000"/>
            <a:ext cx="914400" cy="812800"/>
          </a:xfrm>
          <a:custGeom>
            <a:avLst/>
            <a:gdLst/>
            <a:ahLst/>
            <a:cxnLst/>
            <a:rect l="l" t="t" r="r" b="b"/>
            <a:pathLst>
              <a:path w="914400" h="812800">
                <a:moveTo>
                  <a:pt x="613728" y="306546"/>
                </a:moveTo>
                <a:lnTo>
                  <a:pt x="422116" y="5874"/>
                </a:lnTo>
                <a:cubicBezTo>
                  <a:pt x="414496" y="-6191"/>
                  <a:pt x="402114" y="-14446"/>
                  <a:pt x="388144" y="-16828"/>
                </a:cubicBezTo>
                <a:lnTo>
                  <a:pt x="319723" y="-28893"/>
                </a:lnTo>
                <a:cubicBezTo>
                  <a:pt x="302577" y="-31909"/>
                  <a:pt x="287655" y="-17304"/>
                  <a:pt x="290195" y="-159"/>
                </a:cubicBezTo>
                <a:lnTo>
                  <a:pt x="328295" y="256381"/>
                </a:lnTo>
                <a:lnTo>
                  <a:pt x="161607" y="227013"/>
                </a:lnTo>
                <a:lnTo>
                  <a:pt x="107950" y="128905"/>
                </a:lnTo>
                <a:cubicBezTo>
                  <a:pt x="102394" y="118586"/>
                  <a:pt x="92393" y="111443"/>
                  <a:pt x="81121" y="109538"/>
                </a:cubicBezTo>
                <a:lnTo>
                  <a:pt x="53975" y="104775"/>
                </a:lnTo>
                <a:cubicBezTo>
                  <a:pt x="38418" y="102076"/>
                  <a:pt x="24130" y="114141"/>
                  <a:pt x="24130" y="129858"/>
                </a:cubicBezTo>
                <a:lnTo>
                  <a:pt x="25083" y="298609"/>
                </a:lnTo>
                <a:cubicBezTo>
                  <a:pt x="25400" y="347663"/>
                  <a:pt x="60642" y="389573"/>
                  <a:pt x="109061" y="398145"/>
                </a:cubicBezTo>
                <a:lnTo>
                  <a:pt x="130493" y="401955"/>
                </a:lnTo>
                <a:lnTo>
                  <a:pt x="130493" y="401955"/>
                </a:lnTo>
                <a:lnTo>
                  <a:pt x="793433" y="518795"/>
                </a:lnTo>
                <a:cubicBezTo>
                  <a:pt x="841851" y="527368"/>
                  <a:pt x="887889" y="494983"/>
                  <a:pt x="896461" y="446723"/>
                </a:cubicBezTo>
                <a:cubicBezTo>
                  <a:pt x="905034" y="398463"/>
                  <a:pt x="872649" y="352266"/>
                  <a:pt x="824389" y="343694"/>
                </a:cubicBezTo>
                <a:lnTo>
                  <a:pt x="613728" y="306546"/>
                </a:lnTo>
                <a:close/>
                <a:moveTo>
                  <a:pt x="355600" y="609600"/>
                </a:moveTo>
                <a:cubicBezTo>
                  <a:pt x="383637" y="609600"/>
                  <a:pt x="406400" y="586837"/>
                  <a:pt x="406400" y="558800"/>
                </a:cubicBezTo>
                <a:cubicBezTo>
                  <a:pt x="406400" y="530763"/>
                  <a:pt x="383637" y="508000"/>
                  <a:pt x="355600" y="508000"/>
                </a:cubicBezTo>
                <a:cubicBezTo>
                  <a:pt x="327563" y="508000"/>
                  <a:pt x="304800" y="530763"/>
                  <a:pt x="304800" y="558800"/>
                </a:cubicBezTo>
                <a:cubicBezTo>
                  <a:pt x="304800" y="586837"/>
                  <a:pt x="327563" y="609600"/>
                  <a:pt x="355600" y="609600"/>
                </a:cubicBezTo>
                <a:close/>
                <a:moveTo>
                  <a:pt x="563880" y="585311"/>
                </a:moveTo>
                <a:cubicBezTo>
                  <a:pt x="563880" y="557274"/>
                  <a:pt x="541117" y="534511"/>
                  <a:pt x="513080" y="534511"/>
                </a:cubicBezTo>
                <a:cubicBezTo>
                  <a:pt x="485043" y="534511"/>
                  <a:pt x="462280" y="557274"/>
                  <a:pt x="462280" y="585311"/>
                </a:cubicBezTo>
                <a:cubicBezTo>
                  <a:pt x="462280" y="613349"/>
                  <a:pt x="485043" y="636111"/>
                  <a:pt x="513080" y="636111"/>
                </a:cubicBezTo>
                <a:cubicBezTo>
                  <a:pt x="541117" y="636111"/>
                  <a:pt x="563880" y="613349"/>
                  <a:pt x="563880" y="585311"/>
                </a:cubicBezTo>
                <a:close/>
                <a:moveTo>
                  <a:pt x="50800" y="711200"/>
                </a:moveTo>
                <a:cubicBezTo>
                  <a:pt x="22701" y="711200"/>
                  <a:pt x="0" y="733901"/>
                  <a:pt x="0" y="762000"/>
                </a:cubicBezTo>
                <a:cubicBezTo>
                  <a:pt x="0" y="790099"/>
                  <a:pt x="22701" y="812800"/>
                  <a:pt x="50800" y="812800"/>
                </a:cubicBezTo>
                <a:lnTo>
                  <a:pt x="863600" y="812800"/>
                </a:lnTo>
                <a:cubicBezTo>
                  <a:pt x="891699" y="812800"/>
                  <a:pt x="914400" y="790099"/>
                  <a:pt x="914400" y="762000"/>
                </a:cubicBezTo>
                <a:cubicBezTo>
                  <a:pt x="914400" y="733901"/>
                  <a:pt x="891699" y="711200"/>
                  <a:pt x="863600" y="711200"/>
                </a:cubicBezTo>
                <a:lnTo>
                  <a:pt x="50800" y="711200"/>
                </a:lnTo>
                <a:close/>
              </a:path>
            </a:pathLst>
          </a:custGeom>
          <a:solidFill>
            <a:srgbClr val="C47D3B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342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4381500"/>
            <a:ext cx="2540000" cy="0"/>
          </a:xfrm>
          <a:prstGeom prst="straightConnector1">
            <a:avLst/>
          </a:prstGeom>
          <a:noFill/>
          <a:ln w="38100">
            <a:solidFill>
              <a:srgbClr val="C47D3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048000" y="4699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Airport Management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8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Data Structures &amp; Algorithms in C++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88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47D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5A7A9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&amp; Algorithms | C++ Implementation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1567</Words>
  <Application>Microsoft Office PowerPoint</Application>
  <PresentationFormat>Custom</PresentationFormat>
  <Paragraphs>297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QuattrocentoSans</vt:lpstr>
      <vt:lpstr>Aptos Display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Management System - DSA Project</dc:title>
  <dc:subject>Airport Management System - DSA Project</dc:subject>
  <dc:creator>Kimi</dc:creator>
  <cp:lastModifiedBy>Tom Welling</cp:lastModifiedBy>
  <cp:revision>4</cp:revision>
  <dcterms:created xsi:type="dcterms:W3CDTF">2026-06-02T13:17:09Z</dcterms:created>
  <dcterms:modified xsi:type="dcterms:W3CDTF">2026-06-02T13:23:36Z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{"Label":"Airport Management System - DSA Project","ContentProducer":"001191110108MACG2KBH8F10000","ProduceID":"19e887ac-3e92-829b-8000-000045b1152b","ReservedCode1":"","ContentPropagator":"001191110108MACG2KBH8F20000","PropagateID":"19e887ac-3e92-829b-8000-000045b1152b","ReservedCode2":""}</vt:lpwstr>
  </property>
</Properties>
</file>